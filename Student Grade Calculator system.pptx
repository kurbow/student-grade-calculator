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1/4/2026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AFB41-6BB1-A682-5B3F-3192F1BFA0D3}"/>
              </a:ext>
            </a:extLst>
          </p:cNvPr>
          <p:cNvSpPr>
            <a:spLocks noGrp="1"/>
          </p:cNvSpPr>
          <p:nvPr>
            <p:ph type="ctrTitle"/>
          </p:nvPr>
        </p:nvSpPr>
        <p:spPr>
          <a:xfrm>
            <a:off x="1274646" y="172720"/>
            <a:ext cx="9642707" cy="3137408"/>
          </a:xfrm>
        </p:spPr>
        <p:txBody>
          <a:bodyPr>
            <a:normAutofit/>
          </a:bodyPr>
          <a:lstStyle/>
          <a:p>
            <a:r>
              <a:rPr lang="en-US" sz="6000" dirty="0"/>
              <a:t>Student Grade Calculator system</a:t>
            </a:r>
            <a:br>
              <a:rPr lang="en-US" sz="6000" dirty="0"/>
            </a:br>
            <a:r>
              <a:rPr lang="en-US" sz="6000" dirty="0"/>
              <a:t>(teacher POV)</a:t>
            </a:r>
            <a:endParaRPr lang="en-PH" sz="6000" dirty="0"/>
          </a:p>
        </p:txBody>
      </p:sp>
      <p:sp>
        <p:nvSpPr>
          <p:cNvPr id="5" name="TextBox 4">
            <a:extLst>
              <a:ext uri="{FF2B5EF4-FFF2-40B4-BE49-F238E27FC236}">
                <a16:creationId xmlns:a16="http://schemas.microsoft.com/office/drawing/2014/main" id="{88581680-61F1-719D-F719-5A727F7AFF5D}"/>
              </a:ext>
            </a:extLst>
          </p:cNvPr>
          <p:cNvSpPr txBox="1"/>
          <p:nvPr/>
        </p:nvSpPr>
        <p:spPr>
          <a:xfrm>
            <a:off x="1807463" y="4325111"/>
            <a:ext cx="2892553" cy="1200329"/>
          </a:xfrm>
          <a:prstGeom prst="rect">
            <a:avLst/>
          </a:prstGeom>
          <a:noFill/>
        </p:spPr>
        <p:txBody>
          <a:bodyPr wrap="square" rtlCol="0">
            <a:spAutoFit/>
          </a:bodyPr>
          <a:lstStyle/>
          <a:p>
            <a:pPr algn="ctr"/>
            <a:r>
              <a:rPr lang="en-US" dirty="0">
                <a:latin typeface="Bahnschrift SemiBold" panose="020B0502040204020203" pitchFamily="34" charset="0"/>
              </a:rPr>
              <a:t>Prince Kervin Medina</a:t>
            </a:r>
          </a:p>
          <a:p>
            <a:pPr algn="ctr"/>
            <a:r>
              <a:rPr lang="en-US" dirty="0">
                <a:latin typeface="Bahnschrift SemiBold" panose="020B0502040204020203" pitchFamily="34" charset="0"/>
              </a:rPr>
              <a:t>John Paul Garay</a:t>
            </a:r>
          </a:p>
          <a:p>
            <a:pPr algn="ctr"/>
            <a:r>
              <a:rPr lang="en-US" dirty="0">
                <a:latin typeface="Bahnschrift SemiBold" panose="020B0502040204020203" pitchFamily="34" charset="0"/>
              </a:rPr>
              <a:t>Richard </a:t>
            </a:r>
            <a:r>
              <a:rPr lang="en-US" dirty="0" err="1">
                <a:latin typeface="Bahnschrift SemiBold" panose="020B0502040204020203" pitchFamily="34" charset="0"/>
              </a:rPr>
              <a:t>Apalla</a:t>
            </a:r>
            <a:endParaRPr lang="en-US" dirty="0">
              <a:latin typeface="Bahnschrift SemiBold" panose="020B0502040204020203" pitchFamily="34" charset="0"/>
            </a:endParaRPr>
          </a:p>
          <a:p>
            <a:pPr algn="ctr"/>
            <a:r>
              <a:rPr lang="en-US" dirty="0">
                <a:latin typeface="Bahnschrift SemiBold" panose="020B0502040204020203" pitchFamily="34" charset="0"/>
              </a:rPr>
              <a:t>Clark Rafael</a:t>
            </a:r>
          </a:p>
        </p:txBody>
      </p:sp>
      <p:sp>
        <p:nvSpPr>
          <p:cNvPr id="7" name="TextBox 6">
            <a:extLst>
              <a:ext uri="{FF2B5EF4-FFF2-40B4-BE49-F238E27FC236}">
                <a16:creationId xmlns:a16="http://schemas.microsoft.com/office/drawing/2014/main" id="{437DE469-CB23-E1DA-E31A-1A31143A4055}"/>
              </a:ext>
            </a:extLst>
          </p:cNvPr>
          <p:cNvSpPr txBox="1"/>
          <p:nvPr/>
        </p:nvSpPr>
        <p:spPr>
          <a:xfrm>
            <a:off x="7491986" y="4325111"/>
            <a:ext cx="2340864" cy="1200329"/>
          </a:xfrm>
          <a:prstGeom prst="rect">
            <a:avLst/>
          </a:prstGeom>
          <a:noFill/>
        </p:spPr>
        <p:txBody>
          <a:bodyPr wrap="square" rtlCol="0">
            <a:spAutoFit/>
          </a:bodyPr>
          <a:lstStyle/>
          <a:p>
            <a:pPr algn="ctr"/>
            <a:r>
              <a:rPr lang="en-US" dirty="0">
                <a:latin typeface="Bahnschrift SemiBold" panose="020B0502040204020203" pitchFamily="34" charset="0"/>
              </a:rPr>
              <a:t>Justine Miguel</a:t>
            </a:r>
          </a:p>
          <a:p>
            <a:pPr algn="ctr"/>
            <a:r>
              <a:rPr lang="en-US" dirty="0" err="1">
                <a:latin typeface="Bahnschrift SemiBold" panose="020B0502040204020203" pitchFamily="34" charset="0"/>
              </a:rPr>
              <a:t>Yurry</a:t>
            </a:r>
            <a:r>
              <a:rPr lang="en-US" dirty="0">
                <a:latin typeface="Bahnschrift SemiBold" panose="020B0502040204020203" pitchFamily="34" charset="0"/>
              </a:rPr>
              <a:t> </a:t>
            </a:r>
            <a:r>
              <a:rPr lang="en-US" dirty="0" err="1">
                <a:latin typeface="Bahnschrift SemiBold" panose="020B0502040204020203" pitchFamily="34" charset="0"/>
              </a:rPr>
              <a:t>Cogay</a:t>
            </a:r>
            <a:endParaRPr lang="en-US" dirty="0">
              <a:latin typeface="Bahnschrift SemiBold" panose="020B0502040204020203" pitchFamily="34" charset="0"/>
            </a:endParaRPr>
          </a:p>
          <a:p>
            <a:pPr algn="ctr"/>
            <a:r>
              <a:rPr lang="en-US" dirty="0">
                <a:latin typeface="Bahnschrift SemiBold" panose="020B0502040204020203" pitchFamily="34" charset="0"/>
              </a:rPr>
              <a:t>Angelo Montano</a:t>
            </a:r>
          </a:p>
          <a:p>
            <a:pPr algn="ctr"/>
            <a:r>
              <a:rPr lang="en-US" dirty="0">
                <a:latin typeface="Bahnschrift SemiBold" panose="020B0502040204020203" pitchFamily="34" charset="0"/>
              </a:rPr>
              <a:t>Pearl Ayes</a:t>
            </a:r>
          </a:p>
        </p:txBody>
      </p:sp>
      <p:sp>
        <p:nvSpPr>
          <p:cNvPr id="8" name="TextBox 7">
            <a:extLst>
              <a:ext uri="{FF2B5EF4-FFF2-40B4-BE49-F238E27FC236}">
                <a16:creationId xmlns:a16="http://schemas.microsoft.com/office/drawing/2014/main" id="{197CF5B8-B4D4-50F6-5E24-9311AA1A6856}"/>
              </a:ext>
            </a:extLst>
          </p:cNvPr>
          <p:cNvSpPr txBox="1"/>
          <p:nvPr/>
        </p:nvSpPr>
        <p:spPr>
          <a:xfrm>
            <a:off x="4445508" y="3429000"/>
            <a:ext cx="3300984" cy="584775"/>
          </a:xfrm>
          <a:prstGeom prst="rect">
            <a:avLst/>
          </a:prstGeom>
          <a:noFill/>
        </p:spPr>
        <p:txBody>
          <a:bodyPr wrap="square" rtlCol="0">
            <a:spAutoFit/>
          </a:bodyPr>
          <a:lstStyle/>
          <a:p>
            <a:pPr algn="ctr"/>
            <a:r>
              <a:rPr lang="en-US" sz="3200" dirty="0"/>
              <a:t>BSIT – 1A</a:t>
            </a:r>
            <a:endParaRPr lang="en-PH" sz="3200" dirty="0"/>
          </a:p>
        </p:txBody>
      </p:sp>
    </p:spTree>
    <p:extLst>
      <p:ext uri="{BB962C8B-B14F-4D97-AF65-F5344CB8AC3E}">
        <p14:creationId xmlns:p14="http://schemas.microsoft.com/office/powerpoint/2010/main" val="532217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84D41-F2D4-D551-7F1C-FDB309DD32E7}"/>
              </a:ext>
            </a:extLst>
          </p:cNvPr>
          <p:cNvSpPr>
            <a:spLocks noGrp="1"/>
          </p:cNvSpPr>
          <p:nvPr>
            <p:ph type="title"/>
          </p:nvPr>
        </p:nvSpPr>
        <p:spPr>
          <a:xfrm>
            <a:off x="-1134461" y="0"/>
            <a:ext cx="10353761" cy="1326321"/>
          </a:xfrm>
        </p:spPr>
        <p:txBody>
          <a:bodyPr/>
          <a:lstStyle/>
          <a:p>
            <a:r>
              <a:rPr lang="en-US" dirty="0"/>
              <a:t>What your program does?</a:t>
            </a:r>
            <a:endParaRPr lang="en-PH" dirty="0"/>
          </a:p>
        </p:txBody>
      </p:sp>
      <p:sp>
        <p:nvSpPr>
          <p:cNvPr id="3" name="Content Placeholder 2">
            <a:extLst>
              <a:ext uri="{FF2B5EF4-FFF2-40B4-BE49-F238E27FC236}">
                <a16:creationId xmlns:a16="http://schemas.microsoft.com/office/drawing/2014/main" id="{24A1E0D0-DDDC-8FC8-A104-FB31B08D7508}"/>
              </a:ext>
            </a:extLst>
          </p:cNvPr>
          <p:cNvSpPr>
            <a:spLocks noGrp="1"/>
          </p:cNvSpPr>
          <p:nvPr>
            <p:ph idx="1"/>
          </p:nvPr>
        </p:nvSpPr>
        <p:spPr>
          <a:xfrm>
            <a:off x="919119" y="1581432"/>
            <a:ext cx="10353762" cy="3695136"/>
          </a:xfrm>
        </p:spPr>
        <p:txBody>
          <a:bodyPr>
            <a:normAutofit lnSpcReduction="10000"/>
          </a:bodyPr>
          <a:lstStyle/>
          <a:p>
            <a:r>
              <a:rPr lang="en-US" sz="3200" dirty="0"/>
              <a:t>A C++ program designed for teachers to manage student grades.</a:t>
            </a:r>
          </a:p>
          <a:p>
            <a:r>
              <a:rPr lang="en-US" sz="3200" dirty="0"/>
              <a:t>Purpose: Store records, compute averages, and generate reports.</a:t>
            </a:r>
          </a:p>
          <a:p>
            <a:r>
              <a:rPr lang="en-US" sz="3200" dirty="0"/>
              <a:t>Real-world use: Academic grading and evaluation systems.</a:t>
            </a:r>
          </a:p>
          <a:p>
            <a:endParaRPr lang="en-PH" sz="3200" dirty="0"/>
          </a:p>
        </p:txBody>
      </p:sp>
    </p:spTree>
    <p:extLst>
      <p:ext uri="{BB962C8B-B14F-4D97-AF65-F5344CB8AC3E}">
        <p14:creationId xmlns:p14="http://schemas.microsoft.com/office/powerpoint/2010/main" val="3064228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3B009-E37F-B346-58D8-0911CDA7299E}"/>
              </a:ext>
            </a:extLst>
          </p:cNvPr>
          <p:cNvSpPr>
            <a:spLocks noGrp="1"/>
          </p:cNvSpPr>
          <p:nvPr>
            <p:ph type="title"/>
          </p:nvPr>
        </p:nvSpPr>
        <p:spPr>
          <a:xfrm>
            <a:off x="107567" y="111954"/>
            <a:ext cx="6588507" cy="1326321"/>
          </a:xfrm>
        </p:spPr>
        <p:txBody>
          <a:bodyPr/>
          <a:lstStyle/>
          <a:p>
            <a:r>
              <a:rPr lang="en-US" dirty="0"/>
              <a:t>Features implemented</a:t>
            </a:r>
            <a:endParaRPr lang="en-PH" dirty="0"/>
          </a:p>
        </p:txBody>
      </p:sp>
      <p:sp>
        <p:nvSpPr>
          <p:cNvPr id="3" name="Content Placeholder 2">
            <a:extLst>
              <a:ext uri="{FF2B5EF4-FFF2-40B4-BE49-F238E27FC236}">
                <a16:creationId xmlns:a16="http://schemas.microsoft.com/office/drawing/2014/main" id="{A6C2F271-7D5F-ED7C-4027-0F87B851E904}"/>
              </a:ext>
            </a:extLst>
          </p:cNvPr>
          <p:cNvSpPr>
            <a:spLocks noGrp="1"/>
          </p:cNvSpPr>
          <p:nvPr>
            <p:ph idx="1"/>
          </p:nvPr>
        </p:nvSpPr>
        <p:spPr>
          <a:xfrm>
            <a:off x="818545" y="1829364"/>
            <a:ext cx="10353762" cy="3695136"/>
          </a:xfrm>
        </p:spPr>
        <p:txBody>
          <a:bodyPr>
            <a:normAutofit/>
          </a:bodyPr>
          <a:lstStyle/>
          <a:p>
            <a:r>
              <a:rPr lang="en-US" sz="3200" dirty="0"/>
              <a:t>Add and manage student records</a:t>
            </a:r>
          </a:p>
          <a:p>
            <a:r>
              <a:rPr lang="en-US" sz="3200" dirty="0"/>
              <a:t>• Enter and validate grades</a:t>
            </a:r>
          </a:p>
          <a:p>
            <a:r>
              <a:rPr lang="en-US" sz="3200" dirty="0"/>
              <a:t>• Compute averages automatically</a:t>
            </a:r>
          </a:p>
          <a:p>
            <a:r>
              <a:rPr lang="en-US" sz="3200" dirty="0"/>
              <a:t>• Generate pass/fail and Dean’s List reports</a:t>
            </a:r>
          </a:p>
          <a:p>
            <a:r>
              <a:rPr lang="en-US" sz="3200" dirty="0"/>
              <a:t>• Secure admin login system</a:t>
            </a:r>
          </a:p>
          <a:p>
            <a:endParaRPr lang="en-PH" sz="3200" dirty="0"/>
          </a:p>
        </p:txBody>
      </p:sp>
    </p:spTree>
    <p:extLst>
      <p:ext uri="{BB962C8B-B14F-4D97-AF65-F5344CB8AC3E}">
        <p14:creationId xmlns:p14="http://schemas.microsoft.com/office/powerpoint/2010/main" val="1894147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254A2-D2CA-7C01-ACA9-0E9F3AD4E7BA}"/>
              </a:ext>
            </a:extLst>
          </p:cNvPr>
          <p:cNvSpPr>
            <a:spLocks noGrp="1"/>
          </p:cNvSpPr>
          <p:nvPr>
            <p:ph type="title"/>
          </p:nvPr>
        </p:nvSpPr>
        <p:spPr>
          <a:xfrm>
            <a:off x="0" y="0"/>
            <a:ext cx="6449030" cy="1326321"/>
          </a:xfrm>
        </p:spPr>
        <p:txBody>
          <a:bodyPr/>
          <a:lstStyle/>
          <a:p>
            <a:r>
              <a:rPr lang="en-US" dirty="0"/>
              <a:t>Concept integration</a:t>
            </a:r>
            <a:endParaRPr lang="en-PH" dirty="0"/>
          </a:p>
        </p:txBody>
      </p:sp>
      <p:sp>
        <p:nvSpPr>
          <p:cNvPr id="3" name="Content Placeholder 2">
            <a:extLst>
              <a:ext uri="{FF2B5EF4-FFF2-40B4-BE49-F238E27FC236}">
                <a16:creationId xmlns:a16="http://schemas.microsoft.com/office/drawing/2014/main" id="{F45CEF6E-7368-F206-1D89-09EA33834155}"/>
              </a:ext>
            </a:extLst>
          </p:cNvPr>
          <p:cNvSpPr>
            <a:spLocks noGrp="1"/>
          </p:cNvSpPr>
          <p:nvPr>
            <p:ph idx="1"/>
          </p:nvPr>
        </p:nvSpPr>
        <p:spPr>
          <a:xfrm>
            <a:off x="389919" y="1410264"/>
            <a:ext cx="10973405" cy="4133286"/>
          </a:xfrm>
        </p:spPr>
        <p:txBody>
          <a:bodyPr>
            <a:normAutofit lnSpcReduction="10000"/>
          </a:bodyPr>
          <a:lstStyle/>
          <a:p>
            <a:r>
              <a:rPr lang="en-US" sz="2800" dirty="0"/>
              <a:t>This project demonstrates the practical application of fundamental </a:t>
            </a:r>
            <a:r>
              <a:rPr lang="en-US" sz="2800" b="1" dirty="0"/>
              <a:t>C++ programming concepts</a:t>
            </a:r>
            <a:r>
              <a:rPr lang="en-US" sz="2800" dirty="0"/>
              <a:t> through the development of a </a:t>
            </a:r>
            <a:r>
              <a:rPr lang="en-US" sz="2800" b="1" dirty="0"/>
              <a:t>Student Grade Calculator System</a:t>
            </a:r>
            <a:r>
              <a:rPr lang="en-US" sz="2800" dirty="0"/>
              <a:t>. The program integrates control structures, functions, and input/output operations to efficiently manage student records, process grades, and generate academic reports. These concepts work together to create a structured, modular, and user-friendly system suitable for real-world academic use.</a:t>
            </a:r>
          </a:p>
          <a:p>
            <a:endParaRPr lang="en-PH" sz="2800" dirty="0"/>
          </a:p>
        </p:txBody>
      </p:sp>
    </p:spTree>
    <p:extLst>
      <p:ext uri="{BB962C8B-B14F-4D97-AF65-F5344CB8AC3E}">
        <p14:creationId xmlns:p14="http://schemas.microsoft.com/office/powerpoint/2010/main" val="1919438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DC54D-1C89-3CCE-918F-ED8A8491A3C3}"/>
              </a:ext>
            </a:extLst>
          </p:cNvPr>
          <p:cNvSpPr>
            <a:spLocks noGrp="1"/>
          </p:cNvSpPr>
          <p:nvPr>
            <p:ph type="title"/>
          </p:nvPr>
        </p:nvSpPr>
        <p:spPr>
          <a:xfrm>
            <a:off x="913796" y="0"/>
            <a:ext cx="10353761" cy="1326321"/>
          </a:xfrm>
        </p:spPr>
        <p:txBody>
          <a:bodyPr/>
          <a:lstStyle/>
          <a:p>
            <a:r>
              <a:rPr lang="en-PH" dirty="0"/>
              <a:t>1. Basic Program Structure</a:t>
            </a:r>
          </a:p>
        </p:txBody>
      </p:sp>
      <p:pic>
        <p:nvPicPr>
          <p:cNvPr id="5" name="Content Placeholder 4" descr="A screen shot of a computer&#10;&#10;AI-generated content may be incorrect.">
            <a:extLst>
              <a:ext uri="{FF2B5EF4-FFF2-40B4-BE49-F238E27FC236}">
                <a16:creationId xmlns:a16="http://schemas.microsoft.com/office/drawing/2014/main" id="{D42BD5CC-19CF-426D-7E01-37DFBDACBCE2}"/>
              </a:ext>
            </a:extLst>
          </p:cNvPr>
          <p:cNvPicPr>
            <a:picLocks noGrp="1" noChangeAspect="1"/>
          </p:cNvPicPr>
          <p:nvPr>
            <p:ph idx="1"/>
          </p:nvPr>
        </p:nvPicPr>
        <p:blipFill>
          <a:blip r:embed="rId2"/>
          <a:stretch>
            <a:fillRect/>
          </a:stretch>
        </p:blipFill>
        <p:spPr>
          <a:xfrm>
            <a:off x="1380631" y="1438176"/>
            <a:ext cx="9967567" cy="3981647"/>
          </a:xfrm>
          <a:prstGeom prst="rect">
            <a:avLst/>
          </a:prstGeom>
        </p:spPr>
      </p:pic>
    </p:spTree>
    <p:extLst>
      <p:ext uri="{BB962C8B-B14F-4D97-AF65-F5344CB8AC3E}">
        <p14:creationId xmlns:p14="http://schemas.microsoft.com/office/powerpoint/2010/main" val="1610603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DB0BB-CE6C-D470-0EFF-91E89DF78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0E907E-64C2-F88D-BDD5-56369513E387}"/>
              </a:ext>
            </a:extLst>
          </p:cNvPr>
          <p:cNvSpPr>
            <a:spLocks noGrp="1"/>
          </p:cNvSpPr>
          <p:nvPr>
            <p:ph type="title"/>
          </p:nvPr>
        </p:nvSpPr>
        <p:spPr>
          <a:xfrm>
            <a:off x="913796" y="0"/>
            <a:ext cx="10353761" cy="1326321"/>
          </a:xfrm>
        </p:spPr>
        <p:txBody>
          <a:bodyPr/>
          <a:lstStyle/>
          <a:p>
            <a:r>
              <a:rPr lang="en-PH" dirty="0"/>
              <a:t>2. Comments</a:t>
            </a:r>
          </a:p>
        </p:txBody>
      </p:sp>
      <p:pic>
        <p:nvPicPr>
          <p:cNvPr id="7" name="Picture 6" descr="A screenshot of a computer program&#10;&#10;AI-generated content may be incorrect.">
            <a:extLst>
              <a:ext uri="{FF2B5EF4-FFF2-40B4-BE49-F238E27FC236}">
                <a16:creationId xmlns:a16="http://schemas.microsoft.com/office/drawing/2014/main" id="{FF6B004D-E2CC-7C57-5BEA-CFB4B92CBC72}"/>
              </a:ext>
            </a:extLst>
          </p:cNvPr>
          <p:cNvPicPr>
            <a:picLocks noChangeAspect="1"/>
          </p:cNvPicPr>
          <p:nvPr/>
        </p:nvPicPr>
        <p:blipFill>
          <a:blip r:embed="rId2"/>
          <a:stretch>
            <a:fillRect/>
          </a:stretch>
        </p:blipFill>
        <p:spPr>
          <a:xfrm>
            <a:off x="1236273" y="1976364"/>
            <a:ext cx="9719454" cy="2905271"/>
          </a:xfrm>
          <a:prstGeom prst="rect">
            <a:avLst/>
          </a:prstGeom>
        </p:spPr>
      </p:pic>
    </p:spTree>
    <p:extLst>
      <p:ext uri="{BB962C8B-B14F-4D97-AF65-F5344CB8AC3E}">
        <p14:creationId xmlns:p14="http://schemas.microsoft.com/office/powerpoint/2010/main" val="3304092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5E367-5965-7F01-AB0E-6263D8356E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AB9D3-FA20-0CAC-E060-E902C1F6709B}"/>
              </a:ext>
            </a:extLst>
          </p:cNvPr>
          <p:cNvSpPr>
            <a:spLocks noGrp="1"/>
          </p:cNvSpPr>
          <p:nvPr>
            <p:ph type="title"/>
          </p:nvPr>
        </p:nvSpPr>
        <p:spPr>
          <a:xfrm>
            <a:off x="542623" y="0"/>
            <a:ext cx="11106754" cy="1326321"/>
          </a:xfrm>
        </p:spPr>
        <p:txBody>
          <a:bodyPr/>
          <a:lstStyle/>
          <a:p>
            <a:r>
              <a:rPr lang="en-PH" dirty="0"/>
              <a:t>3. Identifiers, Variables, and Data Types</a:t>
            </a:r>
          </a:p>
        </p:txBody>
      </p:sp>
      <p:pic>
        <p:nvPicPr>
          <p:cNvPr id="4" name="Picture 3" descr="A black background with white text&#10;&#10;AI-generated content may be incorrect.">
            <a:extLst>
              <a:ext uri="{FF2B5EF4-FFF2-40B4-BE49-F238E27FC236}">
                <a16:creationId xmlns:a16="http://schemas.microsoft.com/office/drawing/2014/main" id="{56DD7A2C-B9E7-DB6D-D427-DA56321483E9}"/>
              </a:ext>
            </a:extLst>
          </p:cNvPr>
          <p:cNvPicPr>
            <a:picLocks noChangeAspect="1"/>
          </p:cNvPicPr>
          <p:nvPr/>
        </p:nvPicPr>
        <p:blipFill>
          <a:blip r:embed="rId2"/>
          <a:stretch>
            <a:fillRect/>
          </a:stretch>
        </p:blipFill>
        <p:spPr>
          <a:xfrm>
            <a:off x="1496411" y="2095428"/>
            <a:ext cx="9199177" cy="2667144"/>
          </a:xfrm>
          <a:prstGeom prst="rect">
            <a:avLst/>
          </a:prstGeom>
        </p:spPr>
      </p:pic>
    </p:spTree>
    <p:extLst>
      <p:ext uri="{BB962C8B-B14F-4D97-AF65-F5344CB8AC3E}">
        <p14:creationId xmlns:p14="http://schemas.microsoft.com/office/powerpoint/2010/main" val="2111435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E20DF-8A3D-E498-07A8-54D5628D30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81CF66-825A-9728-EC9D-7E568DD28D24}"/>
              </a:ext>
            </a:extLst>
          </p:cNvPr>
          <p:cNvSpPr>
            <a:spLocks noGrp="1"/>
          </p:cNvSpPr>
          <p:nvPr>
            <p:ph type="title"/>
          </p:nvPr>
        </p:nvSpPr>
        <p:spPr>
          <a:xfrm>
            <a:off x="913796" y="0"/>
            <a:ext cx="10353761" cy="1326321"/>
          </a:xfrm>
        </p:spPr>
        <p:txBody>
          <a:bodyPr/>
          <a:lstStyle/>
          <a:p>
            <a:r>
              <a:rPr lang="en-PH" dirty="0"/>
              <a:t>4. Preprocessor Directives</a:t>
            </a:r>
          </a:p>
        </p:txBody>
      </p:sp>
      <p:pic>
        <p:nvPicPr>
          <p:cNvPr id="4" name="Picture 3" descr="A screenshot of a computer screen&#10;&#10;AI-generated content may be incorrect.">
            <a:extLst>
              <a:ext uri="{FF2B5EF4-FFF2-40B4-BE49-F238E27FC236}">
                <a16:creationId xmlns:a16="http://schemas.microsoft.com/office/drawing/2014/main" id="{26B92650-2F13-BD7B-DEAC-8234E1C82DF9}"/>
              </a:ext>
            </a:extLst>
          </p:cNvPr>
          <p:cNvPicPr>
            <a:picLocks noChangeAspect="1"/>
          </p:cNvPicPr>
          <p:nvPr/>
        </p:nvPicPr>
        <p:blipFill>
          <a:blip r:embed="rId2"/>
          <a:stretch>
            <a:fillRect/>
          </a:stretch>
        </p:blipFill>
        <p:spPr>
          <a:xfrm>
            <a:off x="2357144" y="2305002"/>
            <a:ext cx="7477712" cy="2247996"/>
          </a:xfrm>
          <a:prstGeom prst="rect">
            <a:avLst/>
          </a:prstGeom>
        </p:spPr>
      </p:pic>
    </p:spTree>
    <p:extLst>
      <p:ext uri="{BB962C8B-B14F-4D97-AF65-F5344CB8AC3E}">
        <p14:creationId xmlns:p14="http://schemas.microsoft.com/office/powerpoint/2010/main" val="3704766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8C06C-4CFD-FF1C-FA24-DCCDE9359A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08F119-88E8-9BDA-C279-C924E69D7378}"/>
              </a:ext>
            </a:extLst>
          </p:cNvPr>
          <p:cNvSpPr>
            <a:spLocks noGrp="1"/>
          </p:cNvSpPr>
          <p:nvPr>
            <p:ph type="title"/>
          </p:nvPr>
        </p:nvSpPr>
        <p:spPr>
          <a:xfrm>
            <a:off x="913796" y="0"/>
            <a:ext cx="10353761" cy="1326321"/>
          </a:xfrm>
        </p:spPr>
        <p:txBody>
          <a:bodyPr/>
          <a:lstStyle/>
          <a:p>
            <a:r>
              <a:rPr lang="en-US" dirty="0"/>
              <a:t>5. If Statements (Selection Structure)</a:t>
            </a:r>
            <a:endParaRPr lang="en-PH" dirty="0"/>
          </a:p>
        </p:txBody>
      </p:sp>
      <p:pic>
        <p:nvPicPr>
          <p:cNvPr id="5" name="Picture 4" descr="A computer screen with white text&#10;&#10;AI-generated content may be incorrect.">
            <a:extLst>
              <a:ext uri="{FF2B5EF4-FFF2-40B4-BE49-F238E27FC236}">
                <a16:creationId xmlns:a16="http://schemas.microsoft.com/office/drawing/2014/main" id="{45370AFA-7FB7-C95F-F5C2-2670331208E2}"/>
              </a:ext>
            </a:extLst>
          </p:cNvPr>
          <p:cNvPicPr>
            <a:picLocks noChangeAspect="1"/>
          </p:cNvPicPr>
          <p:nvPr/>
        </p:nvPicPr>
        <p:blipFill>
          <a:blip r:embed="rId2"/>
          <a:stretch>
            <a:fillRect/>
          </a:stretch>
        </p:blipFill>
        <p:spPr>
          <a:xfrm>
            <a:off x="1674630" y="2421675"/>
            <a:ext cx="8842740" cy="2014649"/>
          </a:xfrm>
          <a:prstGeom prst="rect">
            <a:avLst/>
          </a:prstGeom>
        </p:spPr>
      </p:pic>
    </p:spTree>
    <p:extLst>
      <p:ext uri="{BB962C8B-B14F-4D97-AF65-F5344CB8AC3E}">
        <p14:creationId xmlns:p14="http://schemas.microsoft.com/office/powerpoint/2010/main" val="637550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45FB7-A8E9-0302-6FDF-C4D0C372F6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31609F-8E50-5A1A-3895-73C173FA3482}"/>
              </a:ext>
            </a:extLst>
          </p:cNvPr>
          <p:cNvSpPr>
            <a:spLocks noGrp="1"/>
          </p:cNvSpPr>
          <p:nvPr>
            <p:ph type="title"/>
          </p:nvPr>
        </p:nvSpPr>
        <p:spPr>
          <a:xfrm>
            <a:off x="913796" y="0"/>
            <a:ext cx="10353761" cy="1326321"/>
          </a:xfrm>
        </p:spPr>
        <p:txBody>
          <a:bodyPr/>
          <a:lstStyle/>
          <a:p>
            <a:r>
              <a:rPr lang="en-PH" dirty="0"/>
              <a:t>6. Arithmetic &amp; Logical Operators</a:t>
            </a:r>
          </a:p>
        </p:txBody>
      </p:sp>
      <p:pic>
        <p:nvPicPr>
          <p:cNvPr id="4" name="Picture 3" descr="A black background with white text&#10;&#10;AI-generated content may be incorrect.">
            <a:extLst>
              <a:ext uri="{FF2B5EF4-FFF2-40B4-BE49-F238E27FC236}">
                <a16:creationId xmlns:a16="http://schemas.microsoft.com/office/drawing/2014/main" id="{B6E21456-BE1C-C519-D31F-A3E0FC0A45C5}"/>
              </a:ext>
            </a:extLst>
          </p:cNvPr>
          <p:cNvPicPr>
            <a:picLocks noChangeAspect="1"/>
          </p:cNvPicPr>
          <p:nvPr/>
        </p:nvPicPr>
        <p:blipFill>
          <a:blip r:embed="rId2"/>
          <a:stretch>
            <a:fillRect/>
          </a:stretch>
        </p:blipFill>
        <p:spPr>
          <a:xfrm>
            <a:off x="1181186" y="2537199"/>
            <a:ext cx="9829627" cy="1783601"/>
          </a:xfrm>
          <a:prstGeom prst="rect">
            <a:avLst/>
          </a:prstGeom>
        </p:spPr>
      </p:pic>
    </p:spTree>
    <p:extLst>
      <p:ext uri="{BB962C8B-B14F-4D97-AF65-F5344CB8AC3E}">
        <p14:creationId xmlns:p14="http://schemas.microsoft.com/office/powerpoint/2010/main" val="2808675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9E8F3-BE6D-DB7F-6828-F7A775FB6C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506B8A-59A4-DF19-89D1-3FA488100F87}"/>
              </a:ext>
            </a:extLst>
          </p:cNvPr>
          <p:cNvSpPr>
            <a:spLocks noGrp="1"/>
          </p:cNvSpPr>
          <p:nvPr>
            <p:ph type="title"/>
          </p:nvPr>
        </p:nvSpPr>
        <p:spPr>
          <a:xfrm>
            <a:off x="913796" y="0"/>
            <a:ext cx="10353761" cy="1326321"/>
          </a:xfrm>
        </p:spPr>
        <p:txBody>
          <a:bodyPr/>
          <a:lstStyle/>
          <a:p>
            <a:r>
              <a:rPr lang="en-PH" dirty="0"/>
              <a:t>7. Loops (Repetition Structure)</a:t>
            </a:r>
          </a:p>
        </p:txBody>
      </p:sp>
      <p:pic>
        <p:nvPicPr>
          <p:cNvPr id="5" name="Picture 4">
            <a:extLst>
              <a:ext uri="{FF2B5EF4-FFF2-40B4-BE49-F238E27FC236}">
                <a16:creationId xmlns:a16="http://schemas.microsoft.com/office/drawing/2014/main" id="{224E92EE-0F29-33D4-5D2B-5AFE7F17117A}"/>
              </a:ext>
            </a:extLst>
          </p:cNvPr>
          <p:cNvPicPr>
            <a:picLocks noChangeAspect="1"/>
          </p:cNvPicPr>
          <p:nvPr/>
        </p:nvPicPr>
        <p:blipFill>
          <a:blip r:embed="rId2"/>
          <a:stretch>
            <a:fillRect/>
          </a:stretch>
        </p:blipFill>
        <p:spPr>
          <a:xfrm>
            <a:off x="1057549" y="2716971"/>
            <a:ext cx="10076902" cy="1424058"/>
          </a:xfrm>
          <a:prstGeom prst="rect">
            <a:avLst/>
          </a:prstGeom>
        </p:spPr>
      </p:pic>
    </p:spTree>
    <p:extLst>
      <p:ext uri="{BB962C8B-B14F-4D97-AF65-F5344CB8AC3E}">
        <p14:creationId xmlns:p14="http://schemas.microsoft.com/office/powerpoint/2010/main" val="1117032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02564-AADB-F499-195A-A57C394AE4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6B86F2-D66C-44FD-4BA1-3A25457E8739}"/>
              </a:ext>
            </a:extLst>
          </p:cNvPr>
          <p:cNvSpPr>
            <a:spLocks noGrp="1"/>
          </p:cNvSpPr>
          <p:nvPr>
            <p:ph type="title"/>
          </p:nvPr>
        </p:nvSpPr>
        <p:spPr>
          <a:xfrm>
            <a:off x="913796" y="0"/>
            <a:ext cx="10353761" cy="1326321"/>
          </a:xfrm>
        </p:spPr>
        <p:txBody>
          <a:bodyPr/>
          <a:lstStyle/>
          <a:p>
            <a:r>
              <a:rPr lang="en-PH" dirty="0"/>
              <a:t>8. Predefined Functions</a:t>
            </a:r>
          </a:p>
        </p:txBody>
      </p:sp>
      <p:pic>
        <p:nvPicPr>
          <p:cNvPr id="4" name="Picture 3" descr="A black screen with white text&#10;&#10;AI-generated content may be incorrect.">
            <a:extLst>
              <a:ext uri="{FF2B5EF4-FFF2-40B4-BE49-F238E27FC236}">
                <a16:creationId xmlns:a16="http://schemas.microsoft.com/office/drawing/2014/main" id="{83E727C6-30A3-9AC6-697F-38D7386E5E01}"/>
              </a:ext>
            </a:extLst>
          </p:cNvPr>
          <p:cNvPicPr>
            <a:picLocks noChangeAspect="1"/>
          </p:cNvPicPr>
          <p:nvPr/>
        </p:nvPicPr>
        <p:blipFill>
          <a:blip r:embed="rId2"/>
          <a:stretch>
            <a:fillRect/>
          </a:stretch>
        </p:blipFill>
        <p:spPr>
          <a:xfrm>
            <a:off x="1457971" y="2576468"/>
            <a:ext cx="9276058" cy="1705064"/>
          </a:xfrm>
          <a:prstGeom prst="rect">
            <a:avLst/>
          </a:prstGeom>
        </p:spPr>
      </p:pic>
    </p:spTree>
    <p:extLst>
      <p:ext uri="{BB962C8B-B14F-4D97-AF65-F5344CB8AC3E}">
        <p14:creationId xmlns:p14="http://schemas.microsoft.com/office/powerpoint/2010/main" val="839335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642D8-895C-AF2C-8EBA-32FDBA6D21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918E69-5825-BB9C-FCA7-263FA281A8B6}"/>
              </a:ext>
            </a:extLst>
          </p:cNvPr>
          <p:cNvSpPr>
            <a:spLocks noGrp="1"/>
          </p:cNvSpPr>
          <p:nvPr>
            <p:ph type="title"/>
          </p:nvPr>
        </p:nvSpPr>
        <p:spPr>
          <a:xfrm>
            <a:off x="913796" y="0"/>
            <a:ext cx="10353761" cy="1326321"/>
          </a:xfrm>
        </p:spPr>
        <p:txBody>
          <a:bodyPr/>
          <a:lstStyle/>
          <a:p>
            <a:r>
              <a:rPr lang="en-PH" dirty="0"/>
              <a:t>9. User-Defined Functions</a:t>
            </a:r>
          </a:p>
        </p:txBody>
      </p:sp>
      <p:pic>
        <p:nvPicPr>
          <p:cNvPr id="4" name="Picture 3">
            <a:extLst>
              <a:ext uri="{FF2B5EF4-FFF2-40B4-BE49-F238E27FC236}">
                <a16:creationId xmlns:a16="http://schemas.microsoft.com/office/drawing/2014/main" id="{F0DB35CC-A4A0-FE24-6AAC-8B7BE1F69E46}"/>
              </a:ext>
            </a:extLst>
          </p:cNvPr>
          <p:cNvPicPr>
            <a:picLocks noChangeAspect="1"/>
          </p:cNvPicPr>
          <p:nvPr/>
        </p:nvPicPr>
        <p:blipFill>
          <a:blip r:embed="rId2"/>
          <a:stretch>
            <a:fillRect/>
          </a:stretch>
        </p:blipFill>
        <p:spPr>
          <a:xfrm>
            <a:off x="1286925" y="2609768"/>
            <a:ext cx="9618150" cy="1962231"/>
          </a:xfrm>
          <a:prstGeom prst="rect">
            <a:avLst/>
          </a:prstGeom>
        </p:spPr>
      </p:pic>
    </p:spTree>
    <p:extLst>
      <p:ext uri="{BB962C8B-B14F-4D97-AF65-F5344CB8AC3E}">
        <p14:creationId xmlns:p14="http://schemas.microsoft.com/office/powerpoint/2010/main" val="2657670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A8CC5-F36E-0D3D-FEE0-C1015EDCF0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CBFCE0-3E18-25D5-A829-14097F893ED2}"/>
              </a:ext>
            </a:extLst>
          </p:cNvPr>
          <p:cNvSpPr>
            <a:spLocks noGrp="1"/>
          </p:cNvSpPr>
          <p:nvPr>
            <p:ph type="title"/>
          </p:nvPr>
        </p:nvSpPr>
        <p:spPr>
          <a:xfrm>
            <a:off x="0" y="0"/>
            <a:ext cx="6449030" cy="1326321"/>
          </a:xfrm>
        </p:spPr>
        <p:txBody>
          <a:bodyPr/>
          <a:lstStyle/>
          <a:p>
            <a:r>
              <a:rPr lang="en-US" dirty="0">
                <a:effectLst/>
              </a:rPr>
              <a:t>Summary &amp; Reflection</a:t>
            </a:r>
            <a:endParaRPr lang="en-PH" dirty="0"/>
          </a:p>
        </p:txBody>
      </p:sp>
      <p:sp>
        <p:nvSpPr>
          <p:cNvPr id="3" name="Content Placeholder 2">
            <a:extLst>
              <a:ext uri="{FF2B5EF4-FFF2-40B4-BE49-F238E27FC236}">
                <a16:creationId xmlns:a16="http://schemas.microsoft.com/office/drawing/2014/main" id="{E6D376C8-DEBB-E775-61DC-6267C7AAE40E}"/>
              </a:ext>
            </a:extLst>
          </p:cNvPr>
          <p:cNvSpPr>
            <a:spLocks noGrp="1"/>
          </p:cNvSpPr>
          <p:nvPr>
            <p:ph idx="1"/>
          </p:nvPr>
        </p:nvSpPr>
        <p:spPr>
          <a:xfrm>
            <a:off x="307623" y="1135944"/>
            <a:ext cx="11451561" cy="5392872"/>
          </a:xfrm>
        </p:spPr>
        <p:txBody>
          <a:bodyPr>
            <a:normAutofit/>
          </a:bodyPr>
          <a:lstStyle/>
          <a:p>
            <a:r>
              <a:rPr lang="en-US" sz="1800" dirty="0"/>
              <a:t>Through the development of the </a:t>
            </a:r>
            <a:r>
              <a:rPr lang="en-US" sz="1800" b="1" dirty="0"/>
              <a:t>Student Grade Calculator System</a:t>
            </a:r>
            <a:r>
              <a:rPr lang="en-US" sz="1800" dirty="0"/>
              <a:t>, </a:t>
            </a:r>
            <a:r>
              <a:rPr lang="en-US" sz="1800" b="1" dirty="0"/>
              <a:t>our group</a:t>
            </a:r>
            <a:r>
              <a:rPr lang="en-US" sz="1800" dirty="0"/>
              <a:t> was able to apply fundamental concepts of C++ programming in a practical and collaborative way. Working together allowed us to better understand proper program structure, the use of control structures, and the importance of organizing code using user-defined functions, structures, and vectors. This project helped us see how programming concepts can be combined to create a functional system that solves real-world academic problems.</a:t>
            </a:r>
          </a:p>
          <a:p>
            <a:r>
              <a:rPr lang="en-US" sz="1800" dirty="0"/>
              <a:t>One of the main challenges our group encountered was ensuring accurate input validation and managing student data correctly. We worked together to handle errors related to user input, grade computation, and program flow. Debugging the system and integrating different parts of the code required teamwork, clear communication, and careful testing to ensure that all features worked as intended.</a:t>
            </a:r>
          </a:p>
          <a:p>
            <a:r>
              <a:rPr lang="en-US" sz="1800" dirty="0"/>
              <a:t>For future improvements, our group plans to enhance the system by adding file handling so that student records can be saved and retrieved automatically. We also aim to improve the user experience by developing a graphical user interface (GUI) and adding more advanced features such as data analytics, customizable subjects, and role-based access. Overall, this project strengthened our programming skills, problem-solving abilities, and teamwork.</a:t>
            </a:r>
          </a:p>
          <a:p>
            <a:endParaRPr lang="en-PH" sz="1800" dirty="0"/>
          </a:p>
        </p:txBody>
      </p:sp>
    </p:spTree>
    <p:extLst>
      <p:ext uri="{BB962C8B-B14F-4D97-AF65-F5344CB8AC3E}">
        <p14:creationId xmlns:p14="http://schemas.microsoft.com/office/powerpoint/2010/main" val="10590237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48</TotalTime>
  <Words>445</Words>
  <Application>Microsoft Office PowerPoint</Application>
  <PresentationFormat>Widescreen</PresentationFormat>
  <Paragraphs>35</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Bahnschrift SemiBold</vt:lpstr>
      <vt:lpstr>Bookman Old Style</vt:lpstr>
      <vt:lpstr>Rockwell</vt:lpstr>
      <vt:lpstr>Damask</vt:lpstr>
      <vt:lpstr>Student Grade Calculator system (teacher POV)</vt:lpstr>
      <vt:lpstr>What your program does?</vt:lpstr>
      <vt:lpstr>Features implemented</vt:lpstr>
      <vt:lpstr>Concept integration</vt:lpstr>
      <vt:lpstr>1. Basic Program Structure</vt:lpstr>
      <vt:lpstr>2. Comments</vt:lpstr>
      <vt:lpstr>3. Identifiers, Variables, and Data Types</vt:lpstr>
      <vt:lpstr>4. Preprocessor Directives</vt:lpstr>
      <vt:lpstr>5. If Statements (Selection Structure)</vt:lpstr>
      <vt:lpstr>6. Arithmetic &amp; Logical Operators</vt:lpstr>
      <vt:lpstr>7. Loops (Repetition Structure)</vt:lpstr>
      <vt:lpstr>8. Predefined Functions</vt:lpstr>
      <vt:lpstr>9. User-Defined Functions</vt:lpstr>
      <vt:lpstr>Summary &amp; 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office57161</dc:creator>
  <cp:lastModifiedBy>office57161</cp:lastModifiedBy>
  <cp:revision>2</cp:revision>
  <dcterms:created xsi:type="dcterms:W3CDTF">2026-01-04T07:36:10Z</dcterms:created>
  <dcterms:modified xsi:type="dcterms:W3CDTF">2026-01-04T08:37:13Z</dcterms:modified>
</cp:coreProperties>
</file>